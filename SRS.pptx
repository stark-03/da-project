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73" r:id="rId4"/>
    <p:sldId id="274" r:id="rId5"/>
    <p:sldId id="284" r:id="rId6"/>
    <p:sldId id="283" r:id="rId7"/>
    <p:sldId id="291" r:id="rId8"/>
    <p:sldId id="288" r:id="rId9"/>
    <p:sldId id="286" r:id="rId10"/>
    <p:sldId id="282" r:id="rId11"/>
    <p:sldId id="277" r:id="rId12"/>
    <p:sldId id="289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871C9-CE9C-49C7-9CC8-6848BA5B39CB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3D878-783D-4B8F-85ED-E1E2186B2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247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3D878-783D-4B8F-85ED-E1E2186B2EA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747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97E03-7F87-4E20-8E2E-D88025B777B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66BD2-DB09-43F2-83A1-BB48D36F935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DB2E3EC7-83FB-4BC0-8865-5B393C2D6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8841" y="2356338"/>
            <a:ext cx="10403654" cy="4267200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Department of Computer Science &amp; Engineering</a:t>
            </a:r>
          </a:p>
          <a:p>
            <a:r>
              <a:rPr lang="en-US" sz="2800" b="1">
                <a:solidFill>
                  <a:schemeClr val="tx1"/>
                </a:solidFill>
              </a:rPr>
              <a:t>Presentation </a:t>
            </a:r>
            <a:r>
              <a:rPr lang="en-US" sz="2800" b="1" dirty="0">
                <a:solidFill>
                  <a:schemeClr val="tx1"/>
                </a:solidFill>
              </a:rPr>
              <a:t>on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AI RENTAL SCAM DETECTOR</a:t>
            </a:r>
          </a:p>
          <a:p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74843E4-ED2B-46D4-BFB5-FBA872BEE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5625" t="45486" r="24455" b="36459"/>
          <a:stretch>
            <a:fillRect/>
          </a:stretch>
        </p:blipFill>
        <p:spPr bwMode="auto">
          <a:xfrm>
            <a:off x="1295400" y="603738"/>
            <a:ext cx="10058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ubtitle 3">
            <a:extLst>
              <a:ext uri="{FF2B5EF4-FFF2-40B4-BE49-F238E27FC236}">
                <a16:creationId xmlns:a16="http://schemas.microsoft.com/office/drawing/2014/main" id="{F3FBDF2F-814C-4FB4-AD72-25F9F08B2C4A}"/>
              </a:ext>
            </a:extLst>
          </p:cNvPr>
          <p:cNvSpPr txBox="1">
            <a:spLocks/>
          </p:cNvSpPr>
          <p:nvPr/>
        </p:nvSpPr>
        <p:spPr>
          <a:xfrm>
            <a:off x="2256498" y="4501663"/>
            <a:ext cx="8411502" cy="212187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Submitted By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9600" b="1" dirty="0" err="1"/>
              <a:t>Preeti</a:t>
            </a:r>
            <a:r>
              <a:rPr lang="en-US" sz="9600" b="1" dirty="0"/>
              <a:t> </a:t>
            </a:r>
            <a:r>
              <a:rPr lang="en-US" sz="9600" b="1" dirty="0" err="1"/>
              <a:t>Hosurkar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2VX25MC103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Guide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lt"/>
                <a:ea typeface="+mn-ea"/>
                <a:cs typeface="+mn-cs"/>
              </a:rPr>
              <a:t>Prof.</a:t>
            </a:r>
            <a:r>
              <a:rPr lang="en-US" sz="9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Irrana</a:t>
            </a:r>
            <a:r>
              <a:rPr lang="en-US" sz="9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Tonni</a:t>
            </a:r>
            <a:r>
              <a:rPr lang="en-US" sz="9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kumimoji="0" lang="en-US" sz="9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03CD-4E25-A4B6-2F0B-973353689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45013"/>
            <a:ext cx="8229600" cy="1143000"/>
          </a:xfrm>
        </p:spPr>
        <p:txBody>
          <a:bodyPr>
            <a:normAutofit/>
          </a:bodyPr>
          <a:lstStyle/>
          <a:p>
            <a:pPr algn="just"/>
            <a:r>
              <a:rPr lang="en-IN" sz="3600" b="1" dirty="0"/>
              <a:t>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C9794-7D64-7990-3E40-FA35A6ACD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08295"/>
            <a:ext cx="8991600" cy="5257800"/>
          </a:xfrm>
        </p:spPr>
        <p:txBody>
          <a:bodyPr>
            <a:noAutofit/>
          </a:bodyPr>
          <a:lstStyle/>
          <a:p>
            <a:pPr marL="0" indent="0" algn="just">
              <a:spcAft>
                <a:spcPts val="700"/>
              </a:spcAft>
              <a:buNone/>
              <a:defRPr sz="1700">
                <a:solidFill>
                  <a:srgbClr val="191919"/>
                </a:solidFill>
                <a:latin typeface="Times New Roman"/>
              </a:defRPr>
            </a:pPr>
            <a:r>
              <a:rPr lang="en-IN" sz="2800" dirty="0"/>
              <a:t>• Operating System: Windows 10/11</a:t>
            </a:r>
          </a:p>
          <a:p>
            <a:pPr marL="0" indent="0" algn="just">
              <a:spcAft>
                <a:spcPts val="700"/>
              </a:spcAft>
              <a:buNone/>
              <a:defRPr sz="1700">
                <a:solidFill>
                  <a:srgbClr val="191919"/>
                </a:solidFill>
                <a:latin typeface="Times New Roman"/>
              </a:defRPr>
            </a:pPr>
            <a:r>
              <a:rPr lang="en-IN" sz="2800" dirty="0"/>
              <a:t>• Frontend: HTML5, CSS3, JavaScript</a:t>
            </a:r>
          </a:p>
          <a:p>
            <a:pPr marL="0" indent="0" algn="just">
              <a:spcAft>
                <a:spcPts val="700"/>
              </a:spcAft>
              <a:buNone/>
              <a:defRPr sz="1700">
                <a:solidFill>
                  <a:srgbClr val="191919"/>
                </a:solidFill>
                <a:latin typeface="Times New Roman"/>
              </a:defRPr>
            </a:pPr>
            <a:r>
              <a:rPr lang="en-IN" sz="2800" dirty="0"/>
              <a:t>• Backend: Python </a:t>
            </a:r>
          </a:p>
          <a:p>
            <a:pPr marL="0" indent="0" algn="just">
              <a:spcAft>
                <a:spcPts val="700"/>
              </a:spcAft>
              <a:buNone/>
              <a:defRPr sz="1700">
                <a:solidFill>
                  <a:srgbClr val="191919"/>
                </a:solidFill>
                <a:latin typeface="Times New Roman"/>
              </a:defRPr>
            </a:pPr>
            <a:r>
              <a:rPr lang="en-IN" sz="2800" dirty="0"/>
              <a:t>• AI/Image Processing: OpenCV</a:t>
            </a:r>
          </a:p>
          <a:p>
            <a:pPr marL="0" indent="0" algn="just">
              <a:spcAft>
                <a:spcPts val="700"/>
              </a:spcAft>
              <a:buNone/>
              <a:defRPr sz="1700">
                <a:solidFill>
                  <a:srgbClr val="191919"/>
                </a:solidFill>
                <a:latin typeface="Times New Roman"/>
              </a:defRPr>
            </a:pPr>
            <a:r>
              <a:rPr lang="en-IN" sz="2800" dirty="0"/>
              <a:t>• OCR: Tesseract OCR</a:t>
            </a:r>
          </a:p>
          <a:p>
            <a:pPr marL="0" indent="0" algn="just">
              <a:spcAft>
                <a:spcPts val="700"/>
              </a:spcAft>
              <a:buNone/>
              <a:defRPr sz="1700">
                <a:solidFill>
                  <a:srgbClr val="191919"/>
                </a:solidFill>
                <a:latin typeface="Times New Roman"/>
              </a:defRPr>
            </a:pPr>
            <a:r>
              <a:rPr lang="en-IN" sz="2800" dirty="0"/>
              <a:t>• </a:t>
            </a:r>
            <a:r>
              <a:rPr lang="en-IN" sz="2800" dirty="0" err="1"/>
              <a:t>Database:MySQL</a:t>
            </a:r>
            <a:r>
              <a:rPr lang="en-IN" sz="2800" dirty="0"/>
              <a:t>, SQLite</a:t>
            </a:r>
          </a:p>
          <a:p>
            <a:pPr marL="0" indent="0" algn="just">
              <a:spcAft>
                <a:spcPts val="700"/>
              </a:spcAft>
              <a:buNone/>
              <a:defRPr sz="1700">
                <a:solidFill>
                  <a:srgbClr val="191919"/>
                </a:solidFill>
                <a:latin typeface="Times New Roman"/>
              </a:defRPr>
            </a:pPr>
            <a:r>
              <a:rPr lang="en-IN" sz="2800" dirty="0"/>
              <a:t>• Browser: Chrome, Firefox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5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304C-609E-820B-3FAF-E6E4C207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6536"/>
            <a:ext cx="8229600" cy="754063"/>
          </a:xfrm>
        </p:spPr>
        <p:txBody>
          <a:bodyPr>
            <a:noAutofit/>
          </a:bodyPr>
          <a:lstStyle/>
          <a:p>
            <a:pPr algn="just"/>
            <a:r>
              <a:rPr lang="en-IN" sz="3600" b="1" dirty="0"/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367F-4A24-1311-C8A5-541F67014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00932"/>
            <a:ext cx="8686800" cy="465613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Processor: Intel Core i5 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RAM: 8 GB recommended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Storage: Minimum 10 GB free space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Display: Standard HD monitor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Mobile Camera: For capturing clear document images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Internet: Required for accessing the web-based system</a:t>
            </a:r>
          </a:p>
          <a:p>
            <a:pPr algn="just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9259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2EB6-898B-6114-B757-CB4805A4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307"/>
            <a:ext cx="8229600" cy="1143000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/>
              <a:t>Tools &amp; Technologies used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14EF5-90E6-2BF8-29C5-1B36697F0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72307"/>
            <a:ext cx="8400757" cy="5324622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Python – main programming language for backend logic and AI/ML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Flask – web framework that connects the web interface with the backend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HTML, CSS, JavaScript – web interface for upload, preview and result dashboard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Tesseract OCR – extracts text from the uploaded document image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OpenCV – image processing for alignment, blur and photograph checks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Pandas, NumPy – data handling and numerical processing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AI/ML Model – classifies the document as genuine or suspicious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MySQL / SQLite – stores owner, document, verification and findings data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• Visual Studio Code – development environment</a:t>
            </a:r>
          </a:p>
          <a:p>
            <a:pPr algn="just"/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59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C72ADC-0677-40B6-8FF7-AE2865442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8600"/>
            <a:ext cx="111252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26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01">
            <a:extLst>
              <a:ext uri="{FF2B5EF4-FFF2-40B4-BE49-F238E27FC236}">
                <a16:creationId xmlns:a16="http://schemas.microsoft.com/office/drawing/2014/main" id="{9FC0E8C3-2F8D-4277-9BB4-894019BA7E21}"/>
              </a:ext>
            </a:extLst>
          </p:cNvPr>
          <p:cNvSpPr txBox="1"/>
          <p:nvPr/>
        </p:nvSpPr>
        <p:spPr>
          <a:xfrm>
            <a:off x="640080" y="43891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700" b="1" i="0" dirty="0">
                <a:solidFill>
                  <a:srgbClr val="191919"/>
                </a:solidFill>
                <a:latin typeface="Arial"/>
              </a:rPr>
              <a:t>Use Case Diagram</a:t>
            </a:r>
          </a:p>
        </p:txBody>
      </p:sp>
      <p:sp>
        <p:nvSpPr>
          <p:cNvPr id="3" name="Shape 1002">
            <a:extLst>
              <a:ext uri="{FF2B5EF4-FFF2-40B4-BE49-F238E27FC236}">
                <a16:creationId xmlns:a16="http://schemas.microsoft.com/office/drawing/2014/main" id="{CF7E9B73-6450-4E5F-BC0F-7232F9C44C99}"/>
              </a:ext>
            </a:extLst>
          </p:cNvPr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endParaRPr lang="en-US" sz="1000" b="0" i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FE27E5D0-F958-4AF8-AE0D-D7456E70620B}"/>
              </a:ext>
            </a:extLst>
          </p:cNvPr>
          <p:cNvSpPr/>
          <p:nvPr/>
        </p:nvSpPr>
        <p:spPr>
          <a:xfrm>
            <a:off x="2743200" y="1325880"/>
            <a:ext cx="9052560" cy="4937760"/>
          </a:xfrm>
          <a:prstGeom prst="rect">
            <a:avLst/>
          </a:prstGeom>
          <a:noFill/>
          <a:ln w="19050">
            <a:solidFill>
              <a:srgbClr val="464646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1ED4EE5-1493-4B8A-9070-CFC6E79E9399}"/>
              </a:ext>
            </a:extLst>
          </p:cNvPr>
          <p:cNvSpPr txBox="1"/>
          <p:nvPr/>
        </p:nvSpPr>
        <p:spPr>
          <a:xfrm>
            <a:off x="2926080" y="1417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 i="0">
                <a:solidFill>
                  <a:srgbClr val="191919"/>
                </a:solidFill>
                <a:latin typeface="Arial"/>
              </a:rPr>
              <a:t>AI Rental Scam Detector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927BF390-427A-49C7-80D5-5431C3FBD3D6}"/>
              </a:ext>
            </a:extLst>
          </p:cNvPr>
          <p:cNvSpPr/>
          <p:nvPr/>
        </p:nvSpPr>
        <p:spPr>
          <a:xfrm>
            <a:off x="868680" y="3017520"/>
            <a:ext cx="365760" cy="365760"/>
          </a:xfrm>
          <a:prstGeom prst="ellipse">
            <a:avLst/>
          </a:prstGeom>
          <a:noFill/>
          <a:ln w="25400">
            <a:solidFill>
              <a:srgbClr val="19191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endParaRPr lang="en-US"/>
          </a:p>
        </p:txBody>
      </p:sp>
      <p:cxnSp>
        <p:nvCxnSpPr>
          <p:cNvPr id="7" name="Line 6">
            <a:extLst>
              <a:ext uri="{FF2B5EF4-FFF2-40B4-BE49-F238E27FC236}">
                <a16:creationId xmlns:a16="http://schemas.microsoft.com/office/drawing/2014/main" id="{AA0DCC06-CDE2-4964-A965-E9A0F300AD4D}"/>
              </a:ext>
            </a:extLst>
          </p:cNvPr>
          <p:cNvCxnSpPr/>
          <p:nvPr/>
        </p:nvCxnSpPr>
        <p:spPr>
          <a:xfrm>
            <a:off x="1051560" y="3383280"/>
            <a:ext cx="0" cy="731520"/>
          </a:xfrm>
          <a:prstGeom prst="line">
            <a:avLst/>
          </a:prstGeom>
          <a:ln w="25400">
            <a:solidFill>
              <a:srgbClr val="191919"/>
            </a:solidFill>
          </a:ln>
        </p:spPr>
      </p:cxnSp>
      <p:cxnSp>
        <p:nvCxnSpPr>
          <p:cNvPr id="8" name="Line 7">
            <a:extLst>
              <a:ext uri="{FF2B5EF4-FFF2-40B4-BE49-F238E27FC236}">
                <a16:creationId xmlns:a16="http://schemas.microsoft.com/office/drawing/2014/main" id="{2711D5C6-F545-48B4-9486-2F3C2A68646E}"/>
              </a:ext>
            </a:extLst>
          </p:cNvPr>
          <p:cNvCxnSpPr/>
          <p:nvPr/>
        </p:nvCxnSpPr>
        <p:spPr>
          <a:xfrm>
            <a:off x="685800" y="3611880"/>
            <a:ext cx="731520" cy="0"/>
          </a:xfrm>
          <a:prstGeom prst="line">
            <a:avLst/>
          </a:prstGeom>
          <a:ln w="25400">
            <a:solidFill>
              <a:srgbClr val="191919"/>
            </a:solidFill>
          </a:ln>
        </p:spPr>
      </p:cxnSp>
      <p:cxnSp>
        <p:nvCxnSpPr>
          <p:cNvPr id="9" name="Line 8">
            <a:extLst>
              <a:ext uri="{FF2B5EF4-FFF2-40B4-BE49-F238E27FC236}">
                <a16:creationId xmlns:a16="http://schemas.microsoft.com/office/drawing/2014/main" id="{F6F8A695-3DFB-4F30-A427-7A90B71576D8}"/>
              </a:ext>
            </a:extLst>
          </p:cNvPr>
          <p:cNvCxnSpPr/>
          <p:nvPr/>
        </p:nvCxnSpPr>
        <p:spPr>
          <a:xfrm flipH="1">
            <a:off x="731520" y="4114800"/>
            <a:ext cx="320040" cy="548640"/>
          </a:xfrm>
          <a:prstGeom prst="line">
            <a:avLst/>
          </a:prstGeom>
          <a:ln w="25400">
            <a:solidFill>
              <a:srgbClr val="191919"/>
            </a:solidFill>
          </a:ln>
        </p:spPr>
      </p:cxnSp>
      <p:cxnSp>
        <p:nvCxnSpPr>
          <p:cNvPr id="10" name="Line 9">
            <a:extLst>
              <a:ext uri="{FF2B5EF4-FFF2-40B4-BE49-F238E27FC236}">
                <a16:creationId xmlns:a16="http://schemas.microsoft.com/office/drawing/2014/main" id="{C0078D5C-2134-4E21-BA73-A6A6756DAC8A}"/>
              </a:ext>
            </a:extLst>
          </p:cNvPr>
          <p:cNvCxnSpPr/>
          <p:nvPr/>
        </p:nvCxnSpPr>
        <p:spPr>
          <a:xfrm>
            <a:off x="1051560" y="4114800"/>
            <a:ext cx="320040" cy="548640"/>
          </a:xfrm>
          <a:prstGeom prst="line">
            <a:avLst/>
          </a:prstGeom>
          <a:ln w="25400">
            <a:solidFill>
              <a:srgbClr val="191919"/>
            </a:solidFill>
          </a:ln>
        </p:spPr>
      </p:cxnSp>
      <p:sp>
        <p:nvSpPr>
          <p:cNvPr id="11" name="Shape 10">
            <a:extLst>
              <a:ext uri="{FF2B5EF4-FFF2-40B4-BE49-F238E27FC236}">
                <a16:creationId xmlns:a16="http://schemas.microsoft.com/office/drawing/2014/main" id="{EB459129-6462-487C-A604-D40C6B95BF60}"/>
              </a:ext>
            </a:extLst>
          </p:cNvPr>
          <p:cNvSpPr txBox="1"/>
          <p:nvPr/>
        </p:nvSpPr>
        <p:spPr>
          <a:xfrm>
            <a:off x="365760" y="4754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1" i="0">
                <a:solidFill>
                  <a:srgbClr val="191919"/>
                </a:solidFill>
                <a:latin typeface="Arial"/>
              </a:rPr>
              <a:t>Owner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9B334F8-EB74-4519-8FF8-B52503027BA0}"/>
              </a:ext>
            </a:extLst>
          </p:cNvPr>
          <p:cNvSpPr/>
          <p:nvPr/>
        </p:nvSpPr>
        <p:spPr>
          <a:xfrm>
            <a:off x="3200400" y="1783080"/>
            <a:ext cx="2377440" cy="777240"/>
          </a:xfrm>
          <a:prstGeom prst="ellipse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Upload Document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408AB014-2533-49DB-ADE2-E39B6733AD60}"/>
              </a:ext>
            </a:extLst>
          </p:cNvPr>
          <p:cNvSpPr/>
          <p:nvPr/>
        </p:nvSpPr>
        <p:spPr>
          <a:xfrm>
            <a:off x="3200400" y="2926080"/>
            <a:ext cx="2377440" cy="777240"/>
          </a:xfrm>
          <a:prstGeom prst="ellipse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Preview Document</a:t>
            </a: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34E060B2-2468-456C-ACA3-4EE2587A793F}"/>
              </a:ext>
            </a:extLst>
          </p:cNvPr>
          <p:cNvSpPr/>
          <p:nvPr/>
        </p:nvSpPr>
        <p:spPr>
          <a:xfrm>
            <a:off x="3200400" y="3977640"/>
            <a:ext cx="2377440" cy="777240"/>
          </a:xfrm>
          <a:prstGeom prst="ellipse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Start Verification</a:t>
            </a: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BD0498C6-0513-4671-8904-B5734F1C4151}"/>
              </a:ext>
            </a:extLst>
          </p:cNvPr>
          <p:cNvSpPr/>
          <p:nvPr/>
        </p:nvSpPr>
        <p:spPr>
          <a:xfrm>
            <a:off x="3200400" y="5303520"/>
            <a:ext cx="2377440" cy="777240"/>
          </a:xfrm>
          <a:prstGeom prst="ellipse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View Result</a:t>
            </a:r>
          </a:p>
        </p:txBody>
      </p:sp>
      <p:cxnSp>
        <p:nvCxnSpPr>
          <p:cNvPr id="16" name="Line 15">
            <a:extLst>
              <a:ext uri="{FF2B5EF4-FFF2-40B4-BE49-F238E27FC236}">
                <a16:creationId xmlns:a16="http://schemas.microsoft.com/office/drawing/2014/main" id="{3005F56B-04BB-477E-A88F-3087D566DEBB}"/>
              </a:ext>
            </a:extLst>
          </p:cNvPr>
          <p:cNvCxnSpPr/>
          <p:nvPr/>
        </p:nvCxnSpPr>
        <p:spPr>
          <a:xfrm flipV="1">
            <a:off x="1417320" y="2171700"/>
            <a:ext cx="1783080" cy="1440180"/>
          </a:xfrm>
          <a:prstGeom prst="line">
            <a:avLst/>
          </a:prstGeom>
          <a:ln w="15875">
            <a:solidFill>
              <a:srgbClr val="5A5A5A"/>
            </a:solidFill>
          </a:ln>
        </p:spPr>
      </p:cxnSp>
      <p:cxnSp>
        <p:nvCxnSpPr>
          <p:cNvPr id="17" name="Line 16">
            <a:extLst>
              <a:ext uri="{FF2B5EF4-FFF2-40B4-BE49-F238E27FC236}">
                <a16:creationId xmlns:a16="http://schemas.microsoft.com/office/drawing/2014/main" id="{663754A4-BAD8-4323-84B3-6353FAFC2E97}"/>
              </a:ext>
            </a:extLst>
          </p:cNvPr>
          <p:cNvCxnSpPr/>
          <p:nvPr/>
        </p:nvCxnSpPr>
        <p:spPr>
          <a:xfrm flipV="1">
            <a:off x="1417320" y="3314700"/>
            <a:ext cx="1783080" cy="297180"/>
          </a:xfrm>
          <a:prstGeom prst="line">
            <a:avLst/>
          </a:prstGeom>
          <a:ln w="15875">
            <a:solidFill>
              <a:srgbClr val="5A5A5A"/>
            </a:solidFill>
          </a:ln>
        </p:spPr>
      </p:cxnSp>
      <p:cxnSp>
        <p:nvCxnSpPr>
          <p:cNvPr id="18" name="Line 17">
            <a:extLst>
              <a:ext uri="{FF2B5EF4-FFF2-40B4-BE49-F238E27FC236}">
                <a16:creationId xmlns:a16="http://schemas.microsoft.com/office/drawing/2014/main" id="{9BC9C7D6-0DA6-44BC-A3E0-0E78C94BCB27}"/>
              </a:ext>
            </a:extLst>
          </p:cNvPr>
          <p:cNvCxnSpPr/>
          <p:nvPr/>
        </p:nvCxnSpPr>
        <p:spPr>
          <a:xfrm>
            <a:off x="1417320" y="3611880"/>
            <a:ext cx="1783080" cy="754380"/>
          </a:xfrm>
          <a:prstGeom prst="line">
            <a:avLst/>
          </a:prstGeom>
          <a:ln w="15875">
            <a:solidFill>
              <a:srgbClr val="5A5A5A"/>
            </a:solidFill>
          </a:ln>
        </p:spPr>
      </p:cxnSp>
      <p:cxnSp>
        <p:nvCxnSpPr>
          <p:cNvPr id="19" name="Line 18">
            <a:extLst>
              <a:ext uri="{FF2B5EF4-FFF2-40B4-BE49-F238E27FC236}">
                <a16:creationId xmlns:a16="http://schemas.microsoft.com/office/drawing/2014/main" id="{848AA857-8C26-48DA-808A-5DF43A7EB87F}"/>
              </a:ext>
            </a:extLst>
          </p:cNvPr>
          <p:cNvCxnSpPr/>
          <p:nvPr/>
        </p:nvCxnSpPr>
        <p:spPr>
          <a:xfrm>
            <a:off x="1417320" y="3611880"/>
            <a:ext cx="1783080" cy="2080260"/>
          </a:xfrm>
          <a:prstGeom prst="line">
            <a:avLst/>
          </a:prstGeom>
          <a:ln w="15875">
            <a:solidFill>
              <a:srgbClr val="5A5A5A"/>
            </a:solidFill>
          </a:ln>
        </p:spPr>
      </p:cxnSp>
      <p:sp>
        <p:nvSpPr>
          <p:cNvPr id="20" name="Shape 19">
            <a:extLst>
              <a:ext uri="{FF2B5EF4-FFF2-40B4-BE49-F238E27FC236}">
                <a16:creationId xmlns:a16="http://schemas.microsoft.com/office/drawing/2014/main" id="{BE3E29A3-43C0-4FA9-A6B8-8946B52FB698}"/>
              </a:ext>
            </a:extLst>
          </p:cNvPr>
          <p:cNvSpPr/>
          <p:nvPr/>
        </p:nvSpPr>
        <p:spPr>
          <a:xfrm>
            <a:off x="8229600" y="2560320"/>
            <a:ext cx="2468880" cy="777240"/>
          </a:xfrm>
          <a:prstGeom prst="ellipse">
            <a:avLst/>
          </a:prstGeom>
          <a:solidFill>
            <a:srgbClr val="DCE8F8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Extract Text (OCR)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F810B1EE-A577-46AB-8D5B-DC1218E5AADC}"/>
              </a:ext>
            </a:extLst>
          </p:cNvPr>
          <p:cNvSpPr/>
          <p:nvPr/>
        </p:nvSpPr>
        <p:spPr>
          <a:xfrm>
            <a:off x="8229600" y="3977640"/>
            <a:ext cx="2468880" cy="777240"/>
          </a:xfrm>
          <a:prstGeom prst="ellipse">
            <a:avLst/>
          </a:prstGeom>
          <a:solidFill>
            <a:srgbClr val="DCE8F8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Analyze Document</a:t>
            </a: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F7ACC00B-3ADE-44DC-AB1E-0DE8D484F11E}"/>
              </a:ext>
            </a:extLst>
          </p:cNvPr>
          <p:cNvSpPr/>
          <p:nvPr/>
        </p:nvSpPr>
        <p:spPr>
          <a:xfrm>
            <a:off x="8229600" y="5303520"/>
            <a:ext cx="2468880" cy="777240"/>
          </a:xfrm>
          <a:prstGeom prst="ellipse">
            <a:avLst/>
          </a:prstGeom>
          <a:solidFill>
            <a:srgbClr val="DCE8F8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AI/ML Verification</a:t>
            </a:r>
          </a:p>
        </p:txBody>
      </p:sp>
      <p:cxnSp>
        <p:nvCxnSpPr>
          <p:cNvPr id="23" name="Line 22">
            <a:extLst>
              <a:ext uri="{FF2B5EF4-FFF2-40B4-BE49-F238E27FC236}">
                <a16:creationId xmlns:a16="http://schemas.microsoft.com/office/drawing/2014/main" id="{DE2C8EDD-33E2-4941-B47C-6C06205758C6}"/>
              </a:ext>
            </a:extLst>
          </p:cNvPr>
          <p:cNvCxnSpPr/>
          <p:nvPr/>
        </p:nvCxnSpPr>
        <p:spPr>
          <a:xfrm flipV="1">
            <a:off x="5577840" y="2948940"/>
            <a:ext cx="2651760" cy="1417320"/>
          </a:xfrm>
          <a:prstGeom prst="line">
            <a:avLst/>
          </a:prstGeom>
          <a:ln w="19050">
            <a:solidFill>
              <a:srgbClr val="506478"/>
            </a:solidFill>
            <a:prstDash val="dash"/>
            <a:tailEnd type="triangle" w="med" len="med"/>
          </a:ln>
        </p:spPr>
      </p:cxnSp>
      <p:cxnSp>
        <p:nvCxnSpPr>
          <p:cNvPr id="24" name="Line 23">
            <a:extLst>
              <a:ext uri="{FF2B5EF4-FFF2-40B4-BE49-F238E27FC236}">
                <a16:creationId xmlns:a16="http://schemas.microsoft.com/office/drawing/2014/main" id="{9E0B2BBA-74E2-40A4-BF6E-6AD386E82655}"/>
              </a:ext>
            </a:extLst>
          </p:cNvPr>
          <p:cNvCxnSpPr/>
          <p:nvPr/>
        </p:nvCxnSpPr>
        <p:spPr>
          <a:xfrm flipV="1">
            <a:off x="5577840" y="4366260"/>
            <a:ext cx="2651760" cy="0"/>
          </a:xfrm>
          <a:prstGeom prst="line">
            <a:avLst/>
          </a:prstGeom>
          <a:ln w="19050">
            <a:solidFill>
              <a:srgbClr val="506478"/>
            </a:solidFill>
            <a:prstDash val="dash"/>
            <a:tailEnd type="triangle" w="med" len="med"/>
          </a:ln>
        </p:spPr>
      </p:cxnSp>
      <p:cxnSp>
        <p:nvCxnSpPr>
          <p:cNvPr id="25" name="Line 24">
            <a:extLst>
              <a:ext uri="{FF2B5EF4-FFF2-40B4-BE49-F238E27FC236}">
                <a16:creationId xmlns:a16="http://schemas.microsoft.com/office/drawing/2014/main" id="{C1ED2203-46A0-41EB-BEE7-E458D978D087}"/>
              </a:ext>
            </a:extLst>
          </p:cNvPr>
          <p:cNvCxnSpPr/>
          <p:nvPr/>
        </p:nvCxnSpPr>
        <p:spPr>
          <a:xfrm>
            <a:off x="5577840" y="4366260"/>
            <a:ext cx="2651760" cy="1325880"/>
          </a:xfrm>
          <a:prstGeom prst="line">
            <a:avLst/>
          </a:prstGeom>
          <a:ln w="19050">
            <a:solidFill>
              <a:srgbClr val="506478"/>
            </a:solidFill>
            <a:prstDash val="dash"/>
            <a:tailEnd type="triangle" w="med" len="med"/>
          </a:ln>
        </p:spPr>
      </p:cxnSp>
      <p:sp>
        <p:nvSpPr>
          <p:cNvPr id="26" name="Shape 25">
            <a:extLst>
              <a:ext uri="{FF2B5EF4-FFF2-40B4-BE49-F238E27FC236}">
                <a16:creationId xmlns:a16="http://schemas.microsoft.com/office/drawing/2014/main" id="{8F82344C-F297-4646-BC20-1C8A073AF68C}"/>
              </a:ext>
            </a:extLst>
          </p:cNvPr>
          <p:cNvSpPr/>
          <p:nvPr/>
        </p:nvSpPr>
        <p:spPr>
          <a:xfrm>
            <a:off x="6400800" y="3291840"/>
            <a:ext cx="10058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100" b="0" i="1">
                <a:solidFill>
                  <a:srgbClr val="506478"/>
                </a:solidFill>
                <a:latin typeface="Arial"/>
              </a:rPr>
              <a:t>&lt;&lt;include&gt;&gt;</a:t>
            </a: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E348EA13-869E-4DF9-8AA1-6CE35E720218}"/>
              </a:ext>
            </a:extLst>
          </p:cNvPr>
          <p:cNvSpPr/>
          <p:nvPr/>
        </p:nvSpPr>
        <p:spPr>
          <a:xfrm>
            <a:off x="6400800" y="4069080"/>
            <a:ext cx="10058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100" b="0" i="1">
                <a:solidFill>
                  <a:srgbClr val="506478"/>
                </a:solidFill>
                <a:latin typeface="Arial"/>
              </a:rPr>
              <a:t>&lt;&lt;include&gt;&gt;</a:t>
            </a:r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66610E92-792E-46E9-8B4C-21AF76C3C3B2}"/>
              </a:ext>
            </a:extLst>
          </p:cNvPr>
          <p:cNvSpPr/>
          <p:nvPr/>
        </p:nvSpPr>
        <p:spPr>
          <a:xfrm>
            <a:off x="6400800" y="4800600"/>
            <a:ext cx="10058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100" b="0" i="1">
                <a:solidFill>
                  <a:srgbClr val="506478"/>
                </a:solidFill>
                <a:latin typeface="Arial"/>
              </a:rPr>
              <a:t>&lt;&lt;include&gt;&gt;</a:t>
            </a:r>
          </a:p>
        </p:txBody>
      </p:sp>
    </p:spTree>
    <p:extLst>
      <p:ext uri="{BB962C8B-B14F-4D97-AF65-F5344CB8AC3E}">
        <p14:creationId xmlns:p14="http://schemas.microsoft.com/office/powerpoint/2010/main" val="262966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EAE5-5315-4CE0-A0F4-B0EC7972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68362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/>
              <a:t>Entity Relationship 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300204-CC6B-40CF-A0AA-17D682EA0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19200"/>
            <a:ext cx="10134599" cy="5486400"/>
          </a:xfrm>
        </p:spPr>
      </p:pic>
    </p:spTree>
    <p:extLst>
      <p:ext uri="{BB962C8B-B14F-4D97-AF65-F5344CB8AC3E}">
        <p14:creationId xmlns:p14="http://schemas.microsoft.com/office/powerpoint/2010/main" val="293537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01">
            <a:extLst>
              <a:ext uri="{FF2B5EF4-FFF2-40B4-BE49-F238E27FC236}">
                <a16:creationId xmlns:a16="http://schemas.microsoft.com/office/drawing/2014/main" id="{553AF5AE-FCE9-4154-A461-3D9940081D73}"/>
              </a:ext>
            </a:extLst>
          </p:cNvPr>
          <p:cNvSpPr txBox="1"/>
          <p:nvPr/>
        </p:nvSpPr>
        <p:spPr>
          <a:xfrm>
            <a:off x="640080" y="438912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700" b="1" i="0">
                <a:solidFill>
                  <a:srgbClr val="191919"/>
                </a:solidFill>
                <a:latin typeface="Arial"/>
              </a:rPr>
              <a:t>7. Proposed System</a:t>
            </a:r>
          </a:p>
        </p:txBody>
      </p:sp>
      <p:sp>
        <p:nvSpPr>
          <p:cNvPr id="3" name="Shape 1002">
            <a:extLst>
              <a:ext uri="{FF2B5EF4-FFF2-40B4-BE49-F238E27FC236}">
                <a16:creationId xmlns:a16="http://schemas.microsoft.com/office/drawing/2014/main" id="{0EEC6628-AABB-4369-8782-B0F375A2284B}"/>
              </a:ext>
            </a:extLst>
          </p:cNvPr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00" b="0" i="0">
                <a:solidFill>
                  <a:srgbClr val="191919"/>
                </a:solidFill>
                <a:latin typeface="Arial"/>
              </a:rPr>
              <a:t>9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23D99D5-E422-4816-996D-C69AF1BE2E4A}"/>
              </a:ext>
            </a:extLst>
          </p:cNvPr>
          <p:cNvSpPr/>
          <p:nvPr/>
        </p:nvSpPr>
        <p:spPr>
          <a:xfrm>
            <a:off x="502920" y="1554480"/>
            <a:ext cx="1600200" cy="1097280"/>
          </a:xfrm>
          <a:prstGeom prst="roundRect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Owner</a:t>
            </a:r>
          </a:p>
        </p:txBody>
      </p:sp>
      <p:cxnSp>
        <p:nvCxnSpPr>
          <p:cNvPr id="5" name="Line 4">
            <a:extLst>
              <a:ext uri="{FF2B5EF4-FFF2-40B4-BE49-F238E27FC236}">
                <a16:creationId xmlns:a16="http://schemas.microsoft.com/office/drawing/2014/main" id="{C3A0A919-91C6-455D-9FA2-13FA50C5F819}"/>
              </a:ext>
            </a:extLst>
          </p:cNvPr>
          <p:cNvCxnSpPr/>
          <p:nvPr/>
        </p:nvCxnSpPr>
        <p:spPr>
          <a:xfrm>
            <a:off x="2103120" y="2103120"/>
            <a:ext cx="320040" cy="0"/>
          </a:xfrm>
          <a:prstGeom prst="line">
            <a:avLst/>
          </a:prstGeom>
          <a:ln w="19050">
            <a:solidFill>
              <a:srgbClr val="464646"/>
            </a:solidFill>
            <a:tailEnd type="triangle" w="med" len="med"/>
          </a:ln>
        </p:spPr>
      </p:cxnSp>
      <p:sp>
        <p:nvSpPr>
          <p:cNvPr id="6" name="Shape 5">
            <a:extLst>
              <a:ext uri="{FF2B5EF4-FFF2-40B4-BE49-F238E27FC236}">
                <a16:creationId xmlns:a16="http://schemas.microsoft.com/office/drawing/2014/main" id="{BADD9099-FB66-4581-9BDA-DAD922F50869}"/>
              </a:ext>
            </a:extLst>
          </p:cNvPr>
          <p:cNvSpPr/>
          <p:nvPr/>
        </p:nvSpPr>
        <p:spPr>
          <a:xfrm>
            <a:off x="2423160" y="1554480"/>
            <a:ext cx="1600200" cy="1097280"/>
          </a:xfrm>
          <a:prstGeom prst="roundRect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Web Interface</a:t>
            </a:r>
          </a:p>
          <a:p>
            <a:pPr algn="ctr"/>
            <a:r>
              <a:rPr lang="en-US" sz="1200" b="0" i="0">
                <a:solidFill>
                  <a:srgbClr val="191919"/>
                </a:solidFill>
                <a:latin typeface="Arial"/>
              </a:rPr>
              <a:t>Upload &amp; Preview</a:t>
            </a:r>
          </a:p>
        </p:txBody>
      </p:sp>
      <p:cxnSp>
        <p:nvCxnSpPr>
          <p:cNvPr id="7" name="Line 6">
            <a:extLst>
              <a:ext uri="{FF2B5EF4-FFF2-40B4-BE49-F238E27FC236}">
                <a16:creationId xmlns:a16="http://schemas.microsoft.com/office/drawing/2014/main" id="{6AB8A70B-3F78-4119-928E-5517DC12DD22}"/>
              </a:ext>
            </a:extLst>
          </p:cNvPr>
          <p:cNvCxnSpPr/>
          <p:nvPr/>
        </p:nvCxnSpPr>
        <p:spPr>
          <a:xfrm>
            <a:off x="4023360" y="2103120"/>
            <a:ext cx="320040" cy="0"/>
          </a:xfrm>
          <a:prstGeom prst="line">
            <a:avLst/>
          </a:prstGeom>
          <a:ln w="19050">
            <a:solidFill>
              <a:srgbClr val="464646"/>
            </a:solidFill>
            <a:tailEnd type="triangle" w="med" len="med"/>
          </a:ln>
        </p:spPr>
      </p:cxnSp>
      <p:sp>
        <p:nvSpPr>
          <p:cNvPr id="8" name="Shape 7">
            <a:extLst>
              <a:ext uri="{FF2B5EF4-FFF2-40B4-BE49-F238E27FC236}">
                <a16:creationId xmlns:a16="http://schemas.microsoft.com/office/drawing/2014/main" id="{B9FAF662-238A-4A14-B775-7A6B2934E1EB}"/>
              </a:ext>
            </a:extLst>
          </p:cNvPr>
          <p:cNvSpPr/>
          <p:nvPr/>
        </p:nvSpPr>
        <p:spPr>
          <a:xfrm>
            <a:off x="4343400" y="1554480"/>
            <a:ext cx="1600200" cy="1097280"/>
          </a:xfrm>
          <a:prstGeom prst="roundRect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Flask Backend</a:t>
            </a:r>
          </a:p>
          <a:p>
            <a:pPr algn="ctr"/>
            <a:r>
              <a:rPr lang="en-US" sz="1200" b="0" i="0">
                <a:solidFill>
                  <a:srgbClr val="191919"/>
                </a:solidFill>
                <a:latin typeface="Arial"/>
              </a:rPr>
              <a:t>Python</a:t>
            </a:r>
          </a:p>
        </p:txBody>
      </p:sp>
      <p:cxnSp>
        <p:nvCxnSpPr>
          <p:cNvPr id="9" name="Line 8">
            <a:extLst>
              <a:ext uri="{FF2B5EF4-FFF2-40B4-BE49-F238E27FC236}">
                <a16:creationId xmlns:a16="http://schemas.microsoft.com/office/drawing/2014/main" id="{4790FD38-4572-4136-A21F-0029CF8B24E6}"/>
              </a:ext>
            </a:extLst>
          </p:cNvPr>
          <p:cNvCxnSpPr/>
          <p:nvPr/>
        </p:nvCxnSpPr>
        <p:spPr>
          <a:xfrm>
            <a:off x="5943600" y="2103120"/>
            <a:ext cx="320040" cy="0"/>
          </a:xfrm>
          <a:prstGeom prst="line">
            <a:avLst/>
          </a:prstGeom>
          <a:ln w="19050">
            <a:solidFill>
              <a:srgbClr val="464646"/>
            </a:solidFill>
            <a:tailEnd type="triangle" w="med" len="med"/>
          </a:ln>
        </p:spPr>
      </p:cxnSp>
      <p:sp>
        <p:nvSpPr>
          <p:cNvPr id="10" name="Shape 9">
            <a:extLst>
              <a:ext uri="{FF2B5EF4-FFF2-40B4-BE49-F238E27FC236}">
                <a16:creationId xmlns:a16="http://schemas.microsoft.com/office/drawing/2014/main" id="{045536DF-C75C-4F35-BE2B-B3A4319858B7}"/>
              </a:ext>
            </a:extLst>
          </p:cNvPr>
          <p:cNvSpPr/>
          <p:nvPr/>
        </p:nvSpPr>
        <p:spPr>
          <a:xfrm>
            <a:off x="6263640" y="1554480"/>
            <a:ext cx="1600200" cy="1097280"/>
          </a:xfrm>
          <a:prstGeom prst="roundRect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OCR &amp; Image Analysis</a:t>
            </a:r>
          </a:p>
          <a:p>
            <a:pPr algn="ctr"/>
            <a:r>
              <a:rPr lang="en-US" sz="1200" b="0" i="0">
                <a:solidFill>
                  <a:srgbClr val="191919"/>
                </a:solidFill>
                <a:latin typeface="Arial"/>
              </a:rPr>
              <a:t>Tesseract, OpenCV</a:t>
            </a:r>
          </a:p>
        </p:txBody>
      </p:sp>
      <p:cxnSp>
        <p:nvCxnSpPr>
          <p:cNvPr id="11" name="Line 10">
            <a:extLst>
              <a:ext uri="{FF2B5EF4-FFF2-40B4-BE49-F238E27FC236}">
                <a16:creationId xmlns:a16="http://schemas.microsoft.com/office/drawing/2014/main" id="{254B7492-72C5-47FA-92E7-BFEB0C23B259}"/>
              </a:ext>
            </a:extLst>
          </p:cNvPr>
          <p:cNvCxnSpPr/>
          <p:nvPr/>
        </p:nvCxnSpPr>
        <p:spPr>
          <a:xfrm>
            <a:off x="7863840" y="2103120"/>
            <a:ext cx="320040" cy="0"/>
          </a:xfrm>
          <a:prstGeom prst="line">
            <a:avLst/>
          </a:prstGeom>
          <a:ln w="19050">
            <a:solidFill>
              <a:srgbClr val="464646"/>
            </a:solidFill>
            <a:tailEnd type="triangle" w="med" len="med"/>
          </a:ln>
        </p:spPr>
      </p:cxnSp>
      <p:sp>
        <p:nvSpPr>
          <p:cNvPr id="12" name="Shape 11">
            <a:extLst>
              <a:ext uri="{FF2B5EF4-FFF2-40B4-BE49-F238E27FC236}">
                <a16:creationId xmlns:a16="http://schemas.microsoft.com/office/drawing/2014/main" id="{E8295805-D7EF-4E1C-89D0-36C385E2796E}"/>
              </a:ext>
            </a:extLst>
          </p:cNvPr>
          <p:cNvSpPr/>
          <p:nvPr/>
        </p:nvSpPr>
        <p:spPr>
          <a:xfrm>
            <a:off x="8183880" y="1554480"/>
            <a:ext cx="1600200" cy="1097280"/>
          </a:xfrm>
          <a:prstGeom prst="roundRect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AI/ML Verification</a:t>
            </a:r>
          </a:p>
          <a:p>
            <a:pPr algn="ctr"/>
            <a:r>
              <a:rPr lang="en-US" sz="1200" b="0" i="0">
                <a:solidFill>
                  <a:srgbClr val="191919"/>
                </a:solidFill>
                <a:latin typeface="Arial"/>
              </a:rPr>
              <a:t>Model</a:t>
            </a:r>
          </a:p>
        </p:txBody>
      </p:sp>
      <p:cxnSp>
        <p:nvCxnSpPr>
          <p:cNvPr id="13" name="Line 12">
            <a:extLst>
              <a:ext uri="{FF2B5EF4-FFF2-40B4-BE49-F238E27FC236}">
                <a16:creationId xmlns:a16="http://schemas.microsoft.com/office/drawing/2014/main" id="{61C9752A-AC86-4DF4-BEA0-1BA2C04E08BC}"/>
              </a:ext>
            </a:extLst>
          </p:cNvPr>
          <p:cNvCxnSpPr/>
          <p:nvPr/>
        </p:nvCxnSpPr>
        <p:spPr>
          <a:xfrm>
            <a:off x="9784080" y="2103120"/>
            <a:ext cx="320040" cy="0"/>
          </a:xfrm>
          <a:prstGeom prst="line">
            <a:avLst/>
          </a:prstGeom>
          <a:ln w="19050">
            <a:solidFill>
              <a:srgbClr val="464646"/>
            </a:solidFill>
            <a:tailEnd type="triangle" w="med" len="med"/>
          </a:ln>
        </p:spPr>
      </p:cxnSp>
      <p:sp>
        <p:nvSpPr>
          <p:cNvPr id="14" name="Shape 13">
            <a:extLst>
              <a:ext uri="{FF2B5EF4-FFF2-40B4-BE49-F238E27FC236}">
                <a16:creationId xmlns:a16="http://schemas.microsoft.com/office/drawing/2014/main" id="{53B84716-B80B-42BC-B1C3-63A5D67B8C2F}"/>
              </a:ext>
            </a:extLst>
          </p:cNvPr>
          <p:cNvSpPr/>
          <p:nvPr/>
        </p:nvSpPr>
        <p:spPr>
          <a:xfrm>
            <a:off x="10104120" y="1554480"/>
            <a:ext cx="1600200" cy="1097280"/>
          </a:xfrm>
          <a:prstGeom prst="roundRect">
            <a:avLst/>
          </a:prstGeom>
          <a:solidFill>
            <a:srgbClr val="F2F6FC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Result</a:t>
            </a:r>
          </a:p>
          <a:p>
            <a:pPr algn="ctr"/>
            <a:r>
              <a:rPr lang="en-US" sz="1200" b="0" i="0">
                <a:solidFill>
                  <a:srgbClr val="191919"/>
                </a:solidFill>
                <a:latin typeface="Arial"/>
              </a:rPr>
              <a:t>Genuine / Suspicious</a:t>
            </a: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BD016E1D-9EE0-4ADA-B6DC-976474C7C947}"/>
              </a:ext>
            </a:extLst>
          </p:cNvPr>
          <p:cNvSpPr/>
          <p:nvPr/>
        </p:nvSpPr>
        <p:spPr>
          <a:xfrm>
            <a:off x="4343400" y="3108960"/>
            <a:ext cx="1600200" cy="822960"/>
          </a:xfrm>
          <a:prstGeom prst="roundRect">
            <a:avLst/>
          </a:prstGeom>
          <a:solidFill>
            <a:srgbClr val="E0F2E4"/>
          </a:solidFill>
          <a:ln w="15875">
            <a:solidFill>
              <a:srgbClr val="506478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400" b="1" i="0">
                <a:solidFill>
                  <a:srgbClr val="191919"/>
                </a:solidFill>
                <a:latin typeface="Arial"/>
              </a:rPr>
              <a:t>Database</a:t>
            </a:r>
          </a:p>
          <a:p>
            <a:pPr algn="ctr"/>
            <a:r>
              <a:rPr lang="en-US" sz="1200" b="0" i="0">
                <a:solidFill>
                  <a:srgbClr val="191919"/>
                </a:solidFill>
                <a:latin typeface="Arial"/>
              </a:rPr>
              <a:t>MySQL / SQLite</a:t>
            </a:r>
          </a:p>
        </p:txBody>
      </p:sp>
      <p:cxnSp>
        <p:nvCxnSpPr>
          <p:cNvPr id="16" name="Line 15">
            <a:extLst>
              <a:ext uri="{FF2B5EF4-FFF2-40B4-BE49-F238E27FC236}">
                <a16:creationId xmlns:a16="http://schemas.microsoft.com/office/drawing/2014/main" id="{D541C81C-561A-4032-B9D0-9DFA168D1E52}"/>
              </a:ext>
            </a:extLst>
          </p:cNvPr>
          <p:cNvCxnSpPr/>
          <p:nvPr/>
        </p:nvCxnSpPr>
        <p:spPr>
          <a:xfrm>
            <a:off x="5143500" y="2651760"/>
            <a:ext cx="0" cy="457200"/>
          </a:xfrm>
          <a:prstGeom prst="line">
            <a:avLst/>
          </a:prstGeom>
          <a:ln w="19050">
            <a:solidFill>
              <a:srgbClr val="464646"/>
            </a:solidFill>
            <a:tailEnd type="triangle" w="med" len="med"/>
          </a:ln>
        </p:spPr>
      </p:cxnSp>
      <p:sp>
        <p:nvSpPr>
          <p:cNvPr id="17" name="Shape 16">
            <a:extLst>
              <a:ext uri="{FF2B5EF4-FFF2-40B4-BE49-F238E27FC236}">
                <a16:creationId xmlns:a16="http://schemas.microsoft.com/office/drawing/2014/main" id="{054B93DA-721C-4D64-85E6-2CB03D41A9E7}"/>
              </a:ext>
            </a:extLst>
          </p:cNvPr>
          <p:cNvSpPr txBox="1"/>
          <p:nvPr/>
        </p:nvSpPr>
        <p:spPr>
          <a:xfrm>
            <a:off x="749808" y="4251960"/>
            <a:ext cx="1060704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1700" b="0" i="0" dirty="0">
                <a:solidFill>
                  <a:srgbClr val="191919"/>
                </a:solidFill>
                <a:latin typeface="Arial"/>
              </a:rPr>
              <a:t>• The owner uploads an identity/rental document and the system verifies it automatically</a:t>
            </a:r>
          </a:p>
          <a:p>
            <a:pPr algn="l">
              <a:spcAft>
                <a:spcPts val="800"/>
              </a:spcAft>
            </a:pPr>
            <a:r>
              <a:rPr lang="en-US" sz="1700" b="0" i="0" dirty="0">
                <a:solidFill>
                  <a:srgbClr val="191919"/>
                </a:solidFill>
                <a:latin typeface="Arial"/>
              </a:rPr>
              <a:t>• The system checks text alignment, blurred regions, photograph quality and possible alterations</a:t>
            </a:r>
          </a:p>
          <a:p>
            <a:pPr algn="l">
              <a:spcAft>
                <a:spcPts val="800"/>
              </a:spcAft>
            </a:pPr>
            <a:r>
              <a:rPr lang="en-US" sz="1700" b="0" i="0" dirty="0">
                <a:solidFill>
                  <a:srgbClr val="191919"/>
                </a:solidFill>
                <a:latin typeface="Arial"/>
              </a:rPr>
              <a:t>• The result is shown on a simple dashboard as genuine or suspicious</a:t>
            </a:r>
          </a:p>
          <a:p>
            <a:pPr algn="l">
              <a:spcAft>
                <a:spcPts val="800"/>
              </a:spcAft>
            </a:pPr>
            <a:r>
              <a:rPr lang="en-US" sz="1700" b="0" i="0" dirty="0">
                <a:solidFill>
                  <a:srgbClr val="191919"/>
                </a:solidFill>
                <a:latin typeface="Arial"/>
              </a:rPr>
              <a:t>• Verification records and findings are stored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344975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77B9-C82E-4E74-AF66-4CD2E7E06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2401"/>
            <a:ext cx="10363200" cy="1066800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/>
              <a:t>User Requirements</a:t>
            </a: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5B864-80CA-4C24-ABFF-16F8C4D6A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600200"/>
            <a:ext cx="10744200" cy="5105399"/>
          </a:xfrm>
        </p:spPr>
        <p:txBody>
          <a:bodyPr>
            <a:normAutofit/>
          </a:bodyPr>
          <a:lstStyle/>
          <a:p>
            <a:pPr algn="just">
              <a:lnSpc>
                <a:spcPct val="105000"/>
              </a:lnSpc>
              <a:spcAft>
                <a:spcPts val="800"/>
              </a:spcAft>
              <a:defRPr sz="1700" b="1">
                <a:solidFill>
                  <a:srgbClr val="F5F5F5"/>
                </a:solidFill>
                <a:latin typeface="Arial"/>
              </a:defRPr>
            </a:pPr>
            <a:r>
              <a:rPr lang="en-US" sz="2400" b="1" dirty="0">
                <a:solidFill>
                  <a:srgbClr val="191919"/>
                </a:solidFill>
                <a:latin typeface="Arial"/>
              </a:rPr>
              <a:t>The owner is able to: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400" dirty="0">
                <a:solidFill>
                  <a:srgbClr val="191919"/>
                </a:solidFill>
                <a:latin typeface="Arial"/>
              </a:rPr>
              <a:t>• Access the document verification system through a web interface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400" dirty="0">
                <a:solidFill>
                  <a:srgbClr val="191919"/>
                </a:solidFill>
                <a:latin typeface="Arial"/>
              </a:rPr>
              <a:t>• Upload or select a clear identity document image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400" dirty="0">
                <a:solidFill>
                  <a:srgbClr val="191919"/>
                </a:solidFill>
                <a:latin typeface="Arial"/>
              </a:rPr>
              <a:t>• Preview the uploaded document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400" dirty="0">
                <a:solidFill>
                  <a:srgbClr val="191919"/>
                </a:solidFill>
                <a:latin typeface="Arial"/>
              </a:rPr>
              <a:t>• Start document verification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400" dirty="0">
                <a:solidFill>
                  <a:srgbClr val="191919"/>
                </a:solidFill>
                <a:latin typeface="Arial"/>
              </a:rPr>
              <a:t>• View detected text and document analysis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400" dirty="0">
                <a:solidFill>
                  <a:srgbClr val="191919"/>
                </a:solidFill>
                <a:latin typeface="Arial"/>
              </a:rPr>
              <a:t>• View the final genuine/suspicious result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400" dirty="0">
                <a:solidFill>
                  <a:srgbClr val="191919"/>
                </a:solidFill>
                <a:latin typeface="Arial"/>
              </a:rPr>
              <a:t>• Understand the result through a simple dashboard</a:t>
            </a: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72583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47DA-8A9E-40B3-8330-A36B8E3D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181"/>
            <a:ext cx="8229600" cy="715962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/>
              <a:t>Functional Requirements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F67F7-6658-436E-B040-0737830C5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90600"/>
            <a:ext cx="10820400" cy="51514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Accept an identity/rental document image as input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Validate and preview the uploaded document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Extract document text using OCR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Analyze text alignment and document structure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Check blurred, unclear or inconsistent regions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Analyze photograph quality and possible alterations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Apply AI/ML-based document analysis</a:t>
            </a:r>
          </a:p>
          <a:p>
            <a:pPr marL="0" indent="0" algn="just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800" dirty="0">
                <a:solidFill>
                  <a:srgbClr val="191919"/>
                </a:solidFill>
                <a:latin typeface="Arial"/>
              </a:rPr>
              <a:t>• Display the verification result and relevant findings</a:t>
            </a:r>
          </a:p>
          <a:p>
            <a:pPr marL="0" indent="0" algn="just">
              <a:buNone/>
            </a:pP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98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417E-0CCF-6549-9FF0-9C35D079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792162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/>
              <a:t>Non–Functional Requirements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1A672-3DF1-2E9A-EEEE-A62BC94B6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63" y="1295399"/>
            <a:ext cx="10260037" cy="5105401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3600" dirty="0">
                <a:solidFill>
                  <a:srgbClr val="191919"/>
                </a:solidFill>
                <a:latin typeface="Arial"/>
              </a:rPr>
              <a:t>• Accuracy – Provide consistent document-level analysis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3600" dirty="0">
                <a:solidFill>
                  <a:srgbClr val="191919"/>
                </a:solidFill>
                <a:latin typeface="Arial"/>
              </a:rPr>
              <a:t>• Performance – Process a valid document within a reasonable time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3600" dirty="0">
                <a:solidFill>
                  <a:srgbClr val="191919"/>
                </a:solidFill>
                <a:latin typeface="Arial"/>
              </a:rPr>
              <a:t>• Usability – Provide a simple and user-friendly interface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3600" dirty="0">
                <a:solidFill>
                  <a:srgbClr val="191919"/>
                </a:solidFill>
                <a:latin typeface="Arial"/>
              </a:rPr>
              <a:t>• Security – Protect uploaded document information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3600" dirty="0">
                <a:solidFill>
                  <a:srgbClr val="191919"/>
                </a:solidFill>
                <a:latin typeface="Arial"/>
              </a:rPr>
              <a:t>• Privacy – Avoid unnecessary exposure of identity documents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3600" dirty="0">
                <a:solidFill>
                  <a:srgbClr val="191919"/>
                </a:solidFill>
                <a:latin typeface="Arial"/>
              </a:rPr>
              <a:t>• Maintainability – Allow easy updates to verification logic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3600" dirty="0">
                <a:solidFill>
                  <a:srgbClr val="191919"/>
                </a:solidFill>
                <a:latin typeface="Arial"/>
              </a:rPr>
              <a:t>• Scalability – Support additional document types in future</a:t>
            </a:r>
          </a:p>
          <a:p>
            <a:pPr marL="0" indent="0" algn="just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00815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8BB0-2754-41D0-AB3D-765853595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2401"/>
            <a:ext cx="10363200" cy="838200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/>
              <a:t>External Interface Requirements</a:t>
            </a: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07153-D1E9-4364-87C4-EC32AC04B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990601"/>
            <a:ext cx="11277600" cy="5562599"/>
          </a:xfrm>
        </p:spPr>
        <p:txBody>
          <a:bodyPr>
            <a:normAutofit/>
          </a:bodyPr>
          <a:lstStyle/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User Interface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Web-based document verification dashboard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Document upload and image preview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Verify button and analysis-result display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Text and document-quality findings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Software Interface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Flask backend, Python OCR/image-processing modules and AI/ML model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Hardware Interface</a:t>
            </a:r>
          </a:p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2000" dirty="0">
                <a:solidFill>
                  <a:srgbClr val="191919"/>
                </a:solidFill>
                <a:latin typeface="Arial"/>
              </a:rPr>
              <a:t>• Camera or mobile device may be used to capture the document image</a:t>
            </a:r>
          </a:p>
          <a:p>
            <a:pPr algn="just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7842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2F551B-05AF-4001-BBDC-C2CA694EA448}"/>
              </a:ext>
            </a:extLst>
          </p:cNvPr>
          <p:cNvSpPr/>
          <p:nvPr/>
        </p:nvSpPr>
        <p:spPr>
          <a:xfrm>
            <a:off x="3124200" y="2160608"/>
            <a:ext cx="6324600" cy="1295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F5F5F5"/>
                </a:solidFill>
                <a:latin typeface="Arial"/>
              </a:defRPr>
            </a:pPr>
            <a:r>
              <a:rPr lang="en-US" sz="8000" b="1" dirty="0">
                <a:solidFill>
                  <a:srgbClr val="191919"/>
                </a:solidFill>
                <a:latin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607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601</Words>
  <Application>Microsoft Office PowerPoint</Application>
  <PresentationFormat>Widescreen</PresentationFormat>
  <Paragraphs>105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Software Requirements</vt:lpstr>
      <vt:lpstr>Hardware Requirements</vt:lpstr>
      <vt:lpstr>Tools &amp; Technologies used</vt:lpstr>
      <vt:lpstr>PowerPoint Presentation</vt:lpstr>
      <vt:lpstr>PowerPoint Presentation</vt:lpstr>
      <vt:lpstr>Entity Relationship </vt:lpstr>
      <vt:lpstr>PowerPoint Presentation</vt:lpstr>
      <vt:lpstr>User Requirements</vt:lpstr>
      <vt:lpstr>Functional Requirements</vt:lpstr>
      <vt:lpstr>Non–Functional Requirements</vt:lpstr>
      <vt:lpstr>External Interface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vtu</dc:creator>
  <cp:lastModifiedBy>User</cp:lastModifiedBy>
  <cp:revision>101</cp:revision>
  <dcterms:created xsi:type="dcterms:W3CDTF">2024-03-04T04:25:26Z</dcterms:created>
  <dcterms:modified xsi:type="dcterms:W3CDTF">2026-10-04T13:03:30Z</dcterms:modified>
</cp:coreProperties>
</file>